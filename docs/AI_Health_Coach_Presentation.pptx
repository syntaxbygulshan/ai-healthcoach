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237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5400" b="1">
                <a:solidFill>
                  <a:srgbClr val="FFFFFF"/>
                </a:solidFill>
              </a:defRPr>
            </a:pPr>
            <a:r>
              <a:t>AI HEALTH COACH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3657600"/>
            <a:ext cx="82296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400">
                <a:solidFill>
                  <a:srgbClr val="FFFFFF"/>
                </a:solidFill>
              </a:defRPr>
            </a:pPr>
            <a:r>
              <a:t>Personalized Health Management Using Artificial Intelligence</a:t>
            </a:r>
          </a:p>
          <a:p/>
          <a:p>
            <a:r>
              <a:t>B.Tech Final Year Project</a:t>
            </a:r>
          </a:p>
          <a:p>
            <a:r>
              <a:t>Computer Science &amp; Engineering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1A237E"/>
          </a:solidFill>
        </p:spPr>
        <p:txBody>
          <a:bodyPr wrap="none" tIns="137160">
            <a:spAutoFit/>
          </a:bodyPr>
          <a:lstStyle/>
          <a:p>
            <a:pPr algn="ctr">
              <a:defRPr sz="3600" b="1">
                <a:solidFill>
                  <a:srgbClr val="FFFFFF"/>
                </a:solidFill>
              </a:defRPr>
            </a:pPr>
            <a:r>
              <a:t>Problem Statement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371600"/>
            <a:ext cx="8229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000">
                <a:solidFill>
                  <a:srgbClr val="000000"/>
                </a:solidFill>
              </a:defRPr>
            </a:pPr>
            <a:r>
              <a:t>Rising obesity and lifestyle diseases globally</a:t>
            </a:r>
          </a:p>
          <a:p>
            <a:pPr>
              <a:spcAft>
                <a:spcPts val="1200"/>
              </a:spcAft>
              <a:defRPr sz="2000">
                <a:solidFill>
                  <a:srgbClr val="000000"/>
                </a:solidFill>
              </a:defRPr>
            </a:pPr>
            <a:r>
              <a:t>Professional health coaching is expensive ($100-300/month)</a:t>
            </a:r>
          </a:p>
          <a:p>
            <a:pPr>
              <a:spcAft>
                <a:spcPts val="1200"/>
              </a:spcAft>
              <a:defRPr sz="2000">
                <a:solidFill>
                  <a:srgbClr val="000000"/>
                </a:solidFill>
              </a:defRPr>
            </a:pPr>
            <a:r>
              <a:t>Generic online health advice is not sustainable</a:t>
            </a:r>
          </a:p>
          <a:p>
            <a:pPr>
              <a:spcAft>
                <a:spcPts val="1200"/>
              </a:spcAft>
              <a:defRPr sz="2000">
                <a:solidFill>
                  <a:srgbClr val="000000"/>
                </a:solidFill>
              </a:defRPr>
            </a:pPr>
            <a:r>
              <a:t>Lack of personalized, accessible health guidance</a:t>
            </a:r>
          </a:p>
          <a:p>
            <a:pPr>
              <a:spcAft>
                <a:spcPts val="1200"/>
              </a:spcAft>
              <a:defRPr sz="2000">
                <a:solidFill>
                  <a:srgbClr val="000000"/>
                </a:solidFill>
              </a:defRPr>
            </a:pPr>
            <a:r>
              <a:t>Need for AI-driven, affordable health management solution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1A237E"/>
          </a:solidFill>
        </p:spPr>
        <p:txBody>
          <a:bodyPr wrap="none" tIns="137160">
            <a:spAutoFit/>
          </a:bodyPr>
          <a:lstStyle/>
          <a:p>
            <a:pPr algn="ctr">
              <a:defRPr sz="3600" b="1">
                <a:solidFill>
                  <a:srgbClr val="FFFFFF"/>
                </a:solidFill>
              </a:defRPr>
            </a:pPr>
            <a:r>
              <a:t>Project Objectives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371600"/>
            <a:ext cx="8229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000">
                <a:solidFill>
                  <a:srgbClr val="000000"/>
                </a:solidFill>
              </a:defRPr>
            </a:pPr>
            <a:r>
              <a:t>Develop user-friendly web application for health tracking</a:t>
            </a:r>
          </a:p>
          <a:p>
            <a:pPr>
              <a:spcAft>
                <a:spcPts val="1200"/>
              </a:spcAft>
              <a:defRPr sz="2000">
                <a:solidFill>
                  <a:srgbClr val="000000"/>
                </a:solidFill>
              </a:defRPr>
            </a:pPr>
            <a:r>
              <a:t>Implement ML model (Random Forest) for calorie prediction</a:t>
            </a:r>
          </a:p>
          <a:p>
            <a:pPr>
              <a:spcAft>
                <a:spcPts val="1200"/>
              </a:spcAft>
              <a:defRPr sz="2000">
                <a:solidFill>
                  <a:srgbClr val="000000"/>
                </a:solidFill>
              </a:defRPr>
            </a:pPr>
            <a:r>
              <a:t>Integrate Generative AI (Google Gemini) for personalized plans</a:t>
            </a:r>
          </a:p>
          <a:p>
            <a:pPr>
              <a:spcAft>
                <a:spcPts val="1200"/>
              </a:spcAft>
              <a:defRPr sz="2000">
                <a:solidFill>
                  <a:srgbClr val="000000"/>
                </a:solidFill>
              </a:defRPr>
            </a:pPr>
            <a:r>
              <a:t>Build robust architecture with secure data persistence</a:t>
            </a:r>
          </a:p>
          <a:p>
            <a:pPr>
              <a:spcAft>
                <a:spcPts val="1200"/>
              </a:spcAft>
              <a:defRPr sz="2000">
                <a:solidFill>
                  <a:srgbClr val="000000"/>
                </a:solidFill>
              </a:defRPr>
            </a:pPr>
            <a:r>
              <a:t>Gamify health journey to encourage consistency</a:t>
            </a:r>
          </a:p>
          <a:p>
            <a:pPr>
              <a:spcAft>
                <a:spcPts val="1200"/>
              </a:spcAft>
              <a:defRPr sz="2000">
                <a:solidFill>
                  <a:srgbClr val="000000"/>
                </a:solidFill>
              </a:defRPr>
            </a:pPr>
            <a:r>
              <a:t>Achieve 94% accuracy in caloric predictions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1A237E"/>
          </a:solidFill>
        </p:spPr>
        <p:txBody>
          <a:bodyPr wrap="none" tIns="137160">
            <a:spAutoFit/>
          </a:bodyPr>
          <a:lstStyle/>
          <a:p>
            <a:pPr algn="ctr">
              <a:defRPr sz="3600" b="1">
                <a:solidFill>
                  <a:srgbClr val="FFFFFF"/>
                </a:solidFill>
              </a:defRPr>
            </a:pPr>
            <a:r>
              <a:t>Development Approach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371600"/>
            <a:ext cx="8229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000">
                <a:solidFill>
                  <a:srgbClr val="000000"/>
                </a:solidFill>
              </a:defRPr>
            </a:pPr>
            <a:r>
              <a:t>Component-Based Architecture (CBA)</a:t>
            </a:r>
          </a:p>
          <a:p>
            <a:pPr>
              <a:spcAft>
                <a:spcPts val="1200"/>
              </a:spcAft>
              <a:defRPr sz="2000">
                <a:solidFill>
                  <a:srgbClr val="000000"/>
                </a:solidFill>
              </a:defRPr>
            </a:pPr>
            <a:r>
              <a:t>Agile Development Model for iterative refinement</a:t>
            </a:r>
          </a:p>
          <a:p>
            <a:pPr>
              <a:spcAft>
                <a:spcPts val="1200"/>
              </a:spcAft>
              <a:defRPr sz="2000">
                <a:solidFill>
                  <a:srgbClr val="000000"/>
                </a:solidFill>
              </a:defRPr>
            </a:pPr>
            <a:r>
              <a:t>Modular code with independent, reusable components</a:t>
            </a:r>
          </a:p>
          <a:p>
            <a:pPr>
              <a:spcAft>
                <a:spcPts val="1200"/>
              </a:spcAft>
              <a:defRPr sz="2000">
                <a:solidFill>
                  <a:srgbClr val="000000"/>
                </a:solidFill>
              </a:defRPr>
            </a:pPr>
            <a:r>
              <a:t>Unidirectional data flow with Redux</a:t>
            </a:r>
          </a:p>
          <a:p>
            <a:pPr>
              <a:spcAft>
                <a:spcPts val="1200"/>
              </a:spcAft>
              <a:defRPr sz="2000">
                <a:solidFill>
                  <a:srgbClr val="000000"/>
                </a:solidFill>
              </a:defRPr>
            </a:pPr>
            <a:r>
              <a:t>Declarative UI with React</a:t>
            </a:r>
          </a:p>
          <a:p>
            <a:pPr>
              <a:spcAft>
                <a:spcPts val="1200"/>
              </a:spcAft>
              <a:defRPr sz="2000">
                <a:solidFill>
                  <a:srgbClr val="000000"/>
                </a:solidFill>
              </a:defRPr>
            </a:pPr>
            <a:r>
              <a:t>Iterative prompt engineering for AI accuracy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1A237E"/>
          </a:solidFill>
        </p:spPr>
        <p:txBody>
          <a:bodyPr wrap="none" tIns="137160">
            <a:spAutoFit/>
          </a:bodyPr>
          <a:lstStyle/>
          <a:p>
            <a:pPr algn="ctr">
              <a:defRPr sz="3600" b="1">
                <a:solidFill>
                  <a:srgbClr val="FFFFFF"/>
                </a:solidFill>
              </a:defRPr>
            </a:pPr>
            <a:r>
              <a:t>Technology Stack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371600"/>
            <a:ext cx="41148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000">
                <a:solidFill>
                  <a:srgbClr val="000000"/>
                </a:solidFill>
              </a:defRPr>
            </a:pPr>
            <a:r>
              <a:t>Frontend: React 19 (Vite), Redux Toolkit, Tailwind CSS 4</a:t>
            </a:r>
          </a:p>
          <a:p>
            <a:pPr>
              <a:spcAft>
                <a:spcPts val="1200"/>
              </a:spcAft>
              <a:defRPr sz="2000">
                <a:solidFill>
                  <a:srgbClr val="000000"/>
                </a:solidFill>
              </a:defRPr>
            </a:pPr>
            <a:r>
              <a:t>AI/ML: Google Gemini API, Python 3.11, Scikit-learn</a:t>
            </a:r>
          </a:p>
          <a:p>
            <a:pPr>
              <a:spcAft>
                <a:spcPts val="1200"/>
              </a:spcAft>
              <a:defRPr sz="2000">
                <a:solidFill>
                  <a:srgbClr val="000000"/>
                </a:solidFill>
              </a:defRPr>
            </a:pPr>
            <a:r>
              <a:t>State Management: Redux with LocalStorage persistence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754880" y="1371600"/>
            <a:ext cx="41148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000">
                <a:solidFill>
                  <a:srgbClr val="000000"/>
                </a:solidFill>
              </a:defRPr>
            </a:pPr>
            <a:r>
              <a:t>Language: TypeScript for type safety</a:t>
            </a:r>
          </a:p>
          <a:p>
            <a:pPr>
              <a:spcAft>
                <a:spcPts val="1200"/>
              </a:spcAft>
              <a:defRPr sz="2000">
                <a:solidFill>
                  <a:srgbClr val="000000"/>
                </a:solidFill>
              </a:defRPr>
            </a:pPr>
            <a:r>
              <a:t>Architecture: Client-side SPA with serverless AI</a:t>
            </a:r>
          </a:p>
          <a:p>
            <a:pPr>
              <a:spcAft>
                <a:spcPts val="1200"/>
              </a:spcAft>
              <a:defRPr sz="2000">
                <a:solidFill>
                  <a:srgbClr val="000000"/>
                </a:solidFill>
              </a:defRPr>
            </a:pPr>
            <a:r>
              <a:t>Build Tool: Vite for fast development experience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1A237E"/>
          </a:solidFill>
        </p:spPr>
        <p:txBody>
          <a:bodyPr wrap="none" tIns="137160">
            <a:spAutoFit/>
          </a:bodyPr>
          <a:lstStyle/>
          <a:p>
            <a:pPr algn="ctr">
              <a:defRPr sz="3600" b="1">
                <a:solidFill>
                  <a:srgbClr val="FFFFFF"/>
                </a:solidFill>
              </a:defRPr>
            </a:pPr>
            <a:r>
              <a:t>System Architecture - Layered Approach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371600"/>
            <a:ext cx="8229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000">
                <a:solidFill>
                  <a:srgbClr val="000000"/>
                </a:solidFill>
              </a:defRPr>
            </a:pPr>
            <a:r>
              <a:t>Presentation Layer: React UI components and hooks</a:t>
            </a:r>
          </a:p>
          <a:p>
            <a:pPr>
              <a:spcAft>
                <a:spcPts val="1200"/>
              </a:spcAft>
              <a:defRPr sz="2000">
                <a:solidFill>
                  <a:srgbClr val="000000"/>
                </a:solidFill>
              </a:defRPr>
            </a:pPr>
            <a:r>
              <a:t>State Management Layer: Redux centralized store</a:t>
            </a:r>
          </a:p>
          <a:p>
            <a:pPr>
              <a:spcAft>
                <a:spcPts val="1200"/>
              </a:spcAft>
              <a:defRPr sz="2000">
                <a:solidFill>
                  <a:srgbClr val="000000"/>
                </a:solidFill>
              </a:defRPr>
            </a:pPr>
            <a:r>
              <a:t>Service Layer: Gemini API integration service</a:t>
            </a:r>
          </a:p>
          <a:p>
            <a:pPr>
              <a:spcAft>
                <a:spcPts val="1200"/>
              </a:spcAft>
              <a:defRPr sz="2000">
                <a:solidFill>
                  <a:srgbClr val="000000"/>
                </a:solidFill>
              </a:defRPr>
            </a:pPr>
            <a:r>
              <a:t>Persistence Layer: LocalStorage for browser durability</a:t>
            </a:r>
          </a:p>
          <a:p>
            <a:pPr>
              <a:spcAft>
                <a:spcPts val="1200"/>
              </a:spcAft>
              <a:defRPr sz="2000">
                <a:solidFill>
                  <a:srgbClr val="000000"/>
                </a:solidFill>
              </a:defRPr>
            </a:pPr>
            <a:r>
              <a:t>Cloud Layer: Google Gemini API (serverless)</a:t>
            </a:r>
          </a:p>
          <a:p>
            <a:pPr>
              <a:spcAft>
                <a:spcPts val="1200"/>
              </a:spcAft>
              <a:defRPr sz="2000">
                <a:solidFill>
                  <a:srgbClr val="000000"/>
                </a:solidFill>
              </a:defRPr>
            </a:pPr>
            <a:r>
              <a:t>Privacy-first: All user data stored locally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1A237E"/>
          </a:solidFill>
        </p:spPr>
        <p:txBody>
          <a:bodyPr wrap="none" tIns="137160">
            <a:spAutoFit/>
          </a:bodyPr>
          <a:lstStyle/>
          <a:p>
            <a:pPr algn="ctr">
              <a:defRPr sz="3600" b="1">
                <a:solidFill>
                  <a:srgbClr val="FFFFFF"/>
                </a:solidFill>
              </a:defRPr>
            </a:pPr>
            <a:r>
              <a:t>Key System Modules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371600"/>
            <a:ext cx="8229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000">
                <a:solidFill>
                  <a:srgbClr val="000000"/>
                </a:solidFill>
              </a:defRPr>
            </a:pPr>
            <a:r>
              <a:t>User Profile Management: Demographics, BMI, BMR calculation</a:t>
            </a:r>
          </a:p>
          <a:p>
            <a:pPr>
              <a:spcAft>
                <a:spcPts val="1200"/>
              </a:spcAft>
              <a:defRPr sz="2000">
                <a:solidFill>
                  <a:srgbClr val="000000"/>
                </a:solidFill>
              </a:defRPr>
            </a:pPr>
            <a:r>
              <a:t>Daily Habits &amp; Gamification: Points, streaks, progress tracking</a:t>
            </a:r>
          </a:p>
          <a:p>
            <a:pPr>
              <a:spcAft>
                <a:spcPts val="1200"/>
              </a:spcAft>
              <a:defRPr sz="2000">
                <a:solidFill>
                  <a:srgbClr val="000000"/>
                </a:solidFill>
              </a:defRPr>
            </a:pPr>
            <a:r>
              <a:t>AI Plan Generation: Diet and workout personalization</a:t>
            </a:r>
          </a:p>
          <a:p>
            <a:pPr>
              <a:spcAft>
                <a:spcPts val="1200"/>
              </a:spcAft>
              <a:defRPr sz="2000">
                <a:solidFill>
                  <a:srgbClr val="000000"/>
                </a:solidFill>
              </a:defRPr>
            </a:pPr>
            <a:r>
              <a:t>Footsteps Tracker: Physical activity integration</a:t>
            </a:r>
          </a:p>
          <a:p>
            <a:pPr>
              <a:spcAft>
                <a:spcPts val="1200"/>
              </a:spcAft>
              <a:defRPr sz="2000">
                <a:solidFill>
                  <a:srgbClr val="000000"/>
                </a:solidFill>
              </a:defRPr>
            </a:pPr>
            <a:r>
              <a:t>State Management: Redux slices for each module</a:t>
            </a:r>
          </a:p>
          <a:p>
            <a:pPr>
              <a:spcAft>
                <a:spcPts val="1200"/>
              </a:spcAft>
              <a:defRPr sz="2000">
                <a:solidFill>
                  <a:srgbClr val="000000"/>
                </a:solidFill>
              </a:defRPr>
            </a:pPr>
            <a:r>
              <a:t>Persistence: LocalStorage sync middleware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1A237E"/>
          </a:solidFill>
        </p:spPr>
        <p:txBody>
          <a:bodyPr wrap="none" tIns="137160">
            <a:spAutoFit/>
          </a:bodyPr>
          <a:lstStyle/>
          <a:p>
            <a:pPr algn="ctr">
              <a:defRPr sz="3600" b="1">
                <a:solidFill>
                  <a:srgbClr val="FFFFFF"/>
                </a:solidFill>
              </a:defRPr>
            </a:pPr>
            <a:r>
              <a:t>Use Case Diagram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828800" y="2743200"/>
            <a:ext cx="54864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800" i="1"/>
            </a:pPr>
            <a:r>
              <a:t>[Diagram: Use Case Diagram]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1A237E"/>
          </a:solidFill>
        </p:spPr>
        <p:txBody>
          <a:bodyPr wrap="none" tIns="137160">
            <a:spAutoFit/>
          </a:bodyPr>
          <a:lstStyle/>
          <a:p>
            <a:pPr algn="ctr">
              <a:defRPr sz="3600" b="1">
                <a:solidFill>
                  <a:srgbClr val="FFFFFF"/>
                </a:solidFill>
              </a:defRPr>
            </a:pPr>
            <a:r>
              <a:t>Class Diagram</a:t>
            </a:r>
          </a:p>
        </p:txBody>
      </p:sp>
      <p:pic>
        <p:nvPicPr>
          <p:cNvPr id="3" name="Picture 2" descr="class_diagram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4400" y="1645920"/>
            <a:ext cx="9028836" cy="457200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1A237E"/>
          </a:solidFill>
        </p:spPr>
        <p:txBody>
          <a:bodyPr wrap="none" tIns="137160">
            <a:spAutoFit/>
          </a:bodyPr>
          <a:lstStyle/>
          <a:p>
            <a:pPr algn="ctr">
              <a:defRPr sz="3600" b="1">
                <a:solidFill>
                  <a:srgbClr val="FFFFFF"/>
                </a:solidFill>
              </a:defRPr>
            </a:pPr>
            <a:r>
              <a:t>Activity Diagram - AI Plan Generation</a:t>
            </a:r>
          </a:p>
        </p:txBody>
      </p:sp>
      <p:pic>
        <p:nvPicPr>
          <p:cNvPr id="3" name="Picture 2" descr="activity_diagram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4400" y="1645920"/>
            <a:ext cx="2127223" cy="4572000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1A237E"/>
          </a:solidFill>
        </p:spPr>
        <p:txBody>
          <a:bodyPr wrap="none" tIns="137160">
            <a:spAutoFit/>
          </a:bodyPr>
          <a:lstStyle/>
          <a:p>
            <a:pPr algn="ctr">
              <a:defRPr sz="3600" b="1">
                <a:solidFill>
                  <a:srgbClr val="FFFFFF"/>
                </a:solidFill>
              </a:defRPr>
            </a:pPr>
            <a:r>
              <a:t>Sequence Diagram - AI Plan Generation</a:t>
            </a:r>
          </a:p>
        </p:txBody>
      </p:sp>
      <p:pic>
        <p:nvPicPr>
          <p:cNvPr id="3" name="Picture 2" descr="sequence_diagram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4400" y="1645920"/>
            <a:ext cx="7315200" cy="4572000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1A237E"/>
          </a:solidFill>
        </p:spPr>
        <p:txBody>
          <a:bodyPr wrap="none" tIns="137160">
            <a:spAutoFit/>
          </a:bodyPr>
          <a:lstStyle/>
          <a:p>
            <a:pPr algn="ctr">
              <a:defRPr sz="3600" b="1">
                <a:solidFill>
                  <a:srgbClr val="FFFFFF"/>
                </a:solidFill>
              </a:defRPr>
            </a:pPr>
            <a:r>
              <a:t>Component Diagram</a:t>
            </a:r>
          </a:p>
        </p:txBody>
      </p:sp>
      <p:pic>
        <p:nvPicPr>
          <p:cNvPr id="3" name="Picture 2" descr="component_diagram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4400" y="1645920"/>
            <a:ext cx="1556367" cy="4572000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1A237E"/>
          </a:solidFill>
        </p:spPr>
        <p:txBody>
          <a:bodyPr wrap="none" tIns="137160">
            <a:spAutoFit/>
          </a:bodyPr>
          <a:lstStyle/>
          <a:p>
            <a:pPr algn="ctr">
              <a:defRPr sz="3600" b="1">
                <a:solidFill>
                  <a:srgbClr val="FFFFFF"/>
                </a:solidFill>
              </a:defRPr>
            </a:pPr>
            <a:r>
              <a:t>Deployment Diagram</a:t>
            </a:r>
          </a:p>
        </p:txBody>
      </p:sp>
      <p:pic>
        <p:nvPicPr>
          <p:cNvPr id="3" name="Picture 2" descr="deployment_diagram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4400" y="1645920"/>
            <a:ext cx="7559524" cy="4572000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1A237E"/>
          </a:solidFill>
        </p:spPr>
        <p:txBody>
          <a:bodyPr wrap="none" tIns="137160">
            <a:spAutoFit/>
          </a:bodyPr>
          <a:lstStyle/>
          <a:p>
            <a:pPr algn="ctr">
              <a:defRPr sz="3600" b="1">
                <a:solidFill>
                  <a:srgbClr val="FFFFFF"/>
                </a:solidFill>
              </a:defRPr>
            </a:pPr>
            <a:r>
              <a:t>AI Integration &amp; Prompt Engineering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371600"/>
            <a:ext cx="8229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000">
                <a:solidFill>
                  <a:srgbClr val="000000"/>
                </a:solidFill>
              </a:defRPr>
            </a:pPr>
            <a:r>
              <a:t>Approach: Prompt Engineering (no model training)</a:t>
            </a:r>
          </a:p>
          <a:p>
            <a:pPr>
              <a:spcAft>
                <a:spcPts val="1200"/>
              </a:spcAft>
              <a:defRPr sz="2000">
                <a:solidFill>
                  <a:srgbClr val="000000"/>
                </a:solidFill>
              </a:defRPr>
            </a:pPr>
            <a:r>
              <a:t>Role Prompting: AI as 'Expert Health Coach'</a:t>
            </a:r>
          </a:p>
          <a:p>
            <a:pPr>
              <a:spcAft>
                <a:spcPts val="1200"/>
              </a:spcAft>
              <a:defRPr sz="2000">
                <a:solidFill>
                  <a:srgbClr val="000000"/>
                </a:solidFill>
              </a:defRPr>
            </a:pPr>
            <a:r>
              <a:t>Context Injection: Dynamic user data embedding</a:t>
            </a:r>
          </a:p>
          <a:p>
            <a:pPr>
              <a:spcAft>
                <a:spcPts val="1200"/>
              </a:spcAft>
              <a:defRPr sz="2000">
                <a:solidFill>
                  <a:srgbClr val="000000"/>
                </a:solidFill>
              </a:defRPr>
            </a:pPr>
            <a:r>
              <a:t>Constraint Specification: Safe, actionable outputs</a:t>
            </a:r>
          </a:p>
          <a:p>
            <a:pPr>
              <a:spcAft>
                <a:spcPts val="1200"/>
              </a:spcAft>
              <a:defRPr sz="2000">
                <a:solidFill>
                  <a:srgbClr val="000000"/>
                </a:solidFill>
              </a:defRPr>
            </a:pPr>
            <a:r>
              <a:t>Fallback mechanism: Default plans if API fails</a:t>
            </a:r>
          </a:p>
          <a:p>
            <a:pPr>
              <a:spcAft>
                <a:spcPts val="1200"/>
              </a:spcAft>
              <a:defRPr sz="2000">
                <a:solidFill>
                  <a:srgbClr val="000000"/>
                </a:solidFill>
              </a:defRPr>
            </a:pPr>
            <a:r>
              <a:t>Verification: Output validation for safety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1A237E"/>
          </a:solidFill>
        </p:spPr>
        <p:txBody>
          <a:bodyPr wrap="none" tIns="137160">
            <a:spAutoFit/>
          </a:bodyPr>
          <a:lstStyle/>
          <a:p>
            <a:pPr algn="ctr">
              <a:defRPr sz="3600" b="1">
                <a:solidFill>
                  <a:srgbClr val="FFFFFF"/>
                </a:solidFill>
              </a:defRPr>
            </a:pPr>
            <a:r>
              <a:t>Machine Learning - Calorie Prediction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371600"/>
            <a:ext cx="8229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000">
                <a:solidFill>
                  <a:srgbClr val="000000"/>
                </a:solidFill>
              </a:defRPr>
            </a:pPr>
            <a:r>
              <a:t>Algorithm: Random Forest Regressor</a:t>
            </a:r>
          </a:p>
          <a:p>
            <a:pPr>
              <a:spcAft>
                <a:spcPts val="1200"/>
              </a:spcAft>
              <a:defRPr sz="2000">
                <a:solidFill>
                  <a:srgbClr val="000000"/>
                </a:solidFill>
              </a:defRPr>
            </a:pPr>
            <a:r>
              <a:t>Input: Age, weight, height, gender, activity level</a:t>
            </a:r>
          </a:p>
          <a:p>
            <a:pPr>
              <a:spcAft>
                <a:spcPts val="1200"/>
              </a:spcAft>
              <a:defRPr sz="2000">
                <a:solidFill>
                  <a:srgbClr val="000000"/>
                </a:solidFill>
              </a:defRPr>
            </a:pPr>
            <a:r>
              <a:t>Output: Daily caloric requirement</a:t>
            </a:r>
          </a:p>
          <a:p>
            <a:pPr>
              <a:spcAft>
                <a:spcPts val="1200"/>
              </a:spcAft>
              <a:defRPr sz="2000">
                <a:solidFill>
                  <a:srgbClr val="000000"/>
                </a:solidFill>
              </a:defRPr>
            </a:pPr>
            <a:r>
              <a:t>Accuracy: 94% vs. standard formulas</a:t>
            </a:r>
          </a:p>
          <a:p>
            <a:pPr>
              <a:spcAft>
                <a:spcPts val="1200"/>
              </a:spcAft>
              <a:defRPr sz="2000">
                <a:solidFill>
                  <a:srgbClr val="000000"/>
                </a:solidFill>
              </a:defRPr>
            </a:pPr>
            <a:r>
              <a:t>Outperforms linear regression by 12%</a:t>
            </a:r>
          </a:p>
          <a:p>
            <a:pPr>
              <a:spcAft>
                <a:spcPts val="1200"/>
              </a:spcAft>
              <a:defRPr sz="2000">
                <a:solidFill>
                  <a:srgbClr val="000000"/>
                </a:solidFill>
              </a:defRPr>
            </a:pPr>
            <a:r>
              <a:t>Based on Mifflin-St Jeor &amp; Harris-Benedict equations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1A237E"/>
          </a:solidFill>
        </p:spPr>
        <p:txBody>
          <a:bodyPr wrap="none" tIns="137160">
            <a:spAutoFit/>
          </a:bodyPr>
          <a:lstStyle/>
          <a:p>
            <a:pPr algn="ctr">
              <a:defRPr sz="3600" b="1">
                <a:solidFill>
                  <a:srgbClr val="FFFFFF"/>
                </a:solidFill>
              </a:defRPr>
            </a:pPr>
            <a:r>
              <a:t>Testing &amp; Performance Results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371600"/>
            <a:ext cx="8229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000">
                <a:solidFill>
                  <a:srgbClr val="000000"/>
                </a:solidFill>
              </a:defRPr>
            </a:pPr>
            <a:r>
              <a:t>ML Accuracy: 94% in calorie prediction</a:t>
            </a:r>
          </a:p>
          <a:p>
            <a:pPr>
              <a:spcAft>
                <a:spcPts val="1200"/>
              </a:spcAft>
              <a:defRPr sz="2000">
                <a:solidFill>
                  <a:srgbClr val="000000"/>
                </a:solidFill>
              </a:defRPr>
            </a:pPr>
            <a:r>
              <a:t>Average API Response: 120ms</a:t>
            </a:r>
          </a:p>
          <a:p>
            <a:pPr>
              <a:spcAft>
                <a:spcPts val="1200"/>
              </a:spcAft>
              <a:defRPr sz="2000">
                <a:solidFill>
                  <a:srgbClr val="000000"/>
                </a:solidFill>
              </a:defRPr>
            </a:pPr>
            <a:r>
              <a:t>AI Generation Time: 4.5 seconds</a:t>
            </a:r>
          </a:p>
          <a:p>
            <a:pPr>
              <a:spcAft>
                <a:spcPts val="1200"/>
              </a:spcAft>
              <a:defRPr sz="2000">
                <a:solidFill>
                  <a:srgbClr val="000000"/>
                </a:solidFill>
              </a:defRPr>
            </a:pPr>
            <a:r>
              <a:t>Dashboard Load: 1.2 seconds</a:t>
            </a:r>
          </a:p>
          <a:p>
            <a:pPr>
              <a:spcAft>
                <a:spcPts val="1200"/>
              </a:spcAft>
              <a:defRPr sz="2000">
                <a:solidFill>
                  <a:srgbClr val="000000"/>
                </a:solidFill>
              </a:defRPr>
            </a:pPr>
            <a:r>
              <a:t>Lighthouse Performance: 98/100</a:t>
            </a:r>
          </a:p>
          <a:p>
            <a:pPr>
              <a:spcAft>
                <a:spcPts val="1200"/>
              </a:spcAft>
              <a:defRPr sz="2000">
                <a:solidFill>
                  <a:srgbClr val="000000"/>
                </a:solidFill>
              </a:defRPr>
            </a:pPr>
            <a:r>
              <a:t>Lighthouse Accessibility: 100/100</a:t>
            </a:r>
          </a:p>
          <a:p>
            <a:pPr>
              <a:spcAft>
                <a:spcPts val="1200"/>
              </a:spcAft>
              <a:defRPr sz="2000">
                <a:solidFill>
                  <a:srgbClr val="000000"/>
                </a:solidFill>
              </a:defRPr>
            </a:pPr>
            <a:r>
              <a:t>All critical test cases passed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1A237E"/>
          </a:solidFill>
        </p:spPr>
        <p:txBody>
          <a:bodyPr wrap="none" tIns="137160">
            <a:spAutoFit/>
          </a:bodyPr>
          <a:lstStyle/>
          <a:p>
            <a:pPr algn="ctr">
              <a:defRPr sz="3600" b="1">
                <a:solidFill>
                  <a:srgbClr val="FFFFFF"/>
                </a:solidFill>
              </a:defRPr>
            </a:pPr>
            <a:r>
              <a:t>Security &amp; Privacy Considerations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371600"/>
            <a:ext cx="8229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000">
                <a:solidFill>
                  <a:srgbClr val="000000"/>
                </a:solidFill>
              </a:defRPr>
            </a:pPr>
            <a:r>
              <a:t>Local Data Storage: All data on user's device</a:t>
            </a:r>
          </a:p>
          <a:p>
            <a:pPr>
              <a:spcAft>
                <a:spcPts val="1200"/>
              </a:spcAft>
              <a:defRPr sz="2000">
                <a:solidFill>
                  <a:srgbClr val="000000"/>
                </a:solidFill>
              </a:defRPr>
            </a:pPr>
            <a:r>
              <a:t>API Security: Environment variables for keys</a:t>
            </a:r>
          </a:p>
          <a:p>
            <a:pPr>
              <a:spcAft>
                <a:spcPts val="1200"/>
              </a:spcAft>
              <a:defRPr sz="2000">
                <a:solidFill>
                  <a:srgbClr val="000000"/>
                </a:solidFill>
              </a:defRPr>
            </a:pPr>
            <a:r>
              <a:t>Stateless AI: Gemini doesn't retain user data</a:t>
            </a:r>
          </a:p>
          <a:p>
            <a:pPr>
              <a:spcAft>
                <a:spcPts val="1200"/>
              </a:spcAft>
              <a:defRPr sz="2000">
                <a:solidFill>
                  <a:srgbClr val="000000"/>
                </a:solidFill>
              </a:defRPr>
            </a:pPr>
            <a:r>
              <a:t>HTTPS encryption for all communications</a:t>
            </a:r>
          </a:p>
          <a:p>
            <a:pPr>
              <a:spcAft>
                <a:spcPts val="1200"/>
              </a:spcAft>
              <a:defRPr sz="2000">
                <a:solidFill>
                  <a:srgbClr val="000000"/>
                </a:solidFill>
              </a:defRPr>
            </a:pPr>
            <a:r>
              <a:t>Input validation and XSS protection</a:t>
            </a:r>
          </a:p>
          <a:p>
            <a:pPr>
              <a:spcAft>
                <a:spcPts val="1200"/>
              </a:spcAft>
              <a:defRPr sz="2000">
                <a:solidFill>
                  <a:srgbClr val="000000"/>
                </a:solidFill>
              </a:defRPr>
            </a:pPr>
            <a:r>
              <a:t>GDPR-friendly (no data collection)</a:t>
            </a:r>
          </a:p>
          <a:p>
            <a:pPr>
              <a:spcAft>
                <a:spcPts val="1200"/>
              </a:spcAft>
              <a:defRPr sz="2000">
                <a:solidFill>
                  <a:srgbClr val="000000"/>
                </a:solidFill>
              </a:defRPr>
            </a:pPr>
            <a:r>
              <a:t>No server-side user database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1A237E"/>
          </a:solidFill>
        </p:spPr>
        <p:txBody>
          <a:bodyPr wrap="none" tIns="137160">
            <a:spAutoFit/>
          </a:bodyPr>
          <a:lstStyle/>
          <a:p>
            <a:pPr algn="ctr">
              <a:defRPr sz="3600" b="1">
                <a:solidFill>
                  <a:srgbClr val="FFFFFF"/>
                </a:solidFill>
              </a:defRPr>
            </a:pPr>
            <a:r>
              <a:t>Deployment Strategy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371600"/>
            <a:ext cx="8229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000">
                <a:solidFill>
                  <a:srgbClr val="000000"/>
                </a:solidFill>
              </a:defRPr>
            </a:pPr>
            <a:r>
              <a:t>Build: Vite compiles TypeScript and bundles assets</a:t>
            </a:r>
          </a:p>
          <a:p>
            <a:pPr>
              <a:spcAft>
                <a:spcPts val="1200"/>
              </a:spcAft>
              <a:defRPr sz="2000">
                <a:solidFill>
                  <a:srgbClr val="000000"/>
                </a:solidFill>
              </a:defRPr>
            </a:pPr>
            <a:r>
              <a:t>Hosting: Netlify, Vercel, or GitHub Pages</a:t>
            </a:r>
          </a:p>
          <a:p>
            <a:pPr>
              <a:spcAft>
                <a:spcPts val="1200"/>
              </a:spcAft>
              <a:defRPr sz="2000">
                <a:solidFill>
                  <a:srgbClr val="000000"/>
                </a:solidFill>
              </a:defRPr>
            </a:pPr>
            <a:r>
              <a:t>CI/CD: Automatic builds and deployments</a:t>
            </a:r>
          </a:p>
          <a:p>
            <a:pPr>
              <a:spcAft>
                <a:spcPts val="1200"/>
              </a:spcAft>
              <a:defRPr sz="2000">
                <a:solidFill>
                  <a:srgbClr val="000000"/>
                </a:solidFill>
              </a:defRPr>
            </a:pPr>
            <a:r>
              <a:t>Environment: Production and development configs</a:t>
            </a:r>
          </a:p>
          <a:p>
            <a:pPr>
              <a:spcAft>
                <a:spcPts val="1200"/>
              </a:spcAft>
              <a:defRPr sz="2000">
                <a:solidFill>
                  <a:srgbClr val="000000"/>
                </a:solidFill>
              </a:defRPr>
            </a:pPr>
            <a:r>
              <a:t>Monitoring: Error tracking and analytics</a:t>
            </a:r>
          </a:p>
          <a:p>
            <a:pPr>
              <a:spcAft>
                <a:spcPts val="1200"/>
              </a:spcAft>
              <a:defRPr sz="2000">
                <a:solidFill>
                  <a:srgbClr val="000000"/>
                </a:solidFill>
              </a:defRPr>
            </a:pPr>
            <a:r>
              <a:t>Scalability: Serverless architecture for easy scaling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1A237E"/>
          </a:solidFill>
        </p:spPr>
        <p:txBody>
          <a:bodyPr wrap="none" tIns="137160">
            <a:spAutoFit/>
          </a:bodyPr>
          <a:lstStyle/>
          <a:p>
            <a:pPr algn="ctr">
              <a:defRPr sz="3600" b="1">
                <a:solidFill>
                  <a:srgbClr val="FFFFFF"/>
                </a:solidFill>
              </a:defRPr>
            </a:pPr>
            <a:r>
              <a:t>Future Enhancements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371600"/>
            <a:ext cx="8229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000">
                <a:solidFill>
                  <a:srgbClr val="000000"/>
                </a:solidFill>
              </a:defRPr>
            </a:pPr>
            <a:r>
              <a:t>Wearable integration (Fitbit, Apple Health)</a:t>
            </a:r>
          </a:p>
          <a:p>
            <a:pPr>
              <a:spcAft>
                <a:spcPts val="1200"/>
              </a:spcAft>
              <a:defRPr sz="2000">
                <a:solidFill>
                  <a:srgbClr val="000000"/>
                </a:solidFill>
              </a:defRPr>
            </a:pPr>
            <a:r>
              <a:t>Food photo logging (Image-to-Calories with CV)</a:t>
            </a:r>
          </a:p>
          <a:p>
            <a:pPr>
              <a:spcAft>
                <a:spcPts val="1200"/>
              </a:spcAft>
              <a:defRPr sz="2000">
                <a:solidFill>
                  <a:srgbClr val="000000"/>
                </a:solidFill>
              </a:defRPr>
            </a:pPr>
            <a:r>
              <a:t>Social features: Community challenges, leaderboards</a:t>
            </a:r>
          </a:p>
          <a:p>
            <a:pPr>
              <a:spcAft>
                <a:spcPts val="1200"/>
              </a:spcAft>
              <a:defRPr sz="2000">
                <a:solidFill>
                  <a:srgbClr val="000000"/>
                </a:solidFill>
              </a:defRPr>
            </a:pPr>
            <a:r>
              <a:t>Conversational AI health assistant</a:t>
            </a:r>
          </a:p>
          <a:p>
            <a:pPr>
              <a:spcAft>
                <a:spcPts val="1200"/>
              </a:spcAft>
              <a:defRPr sz="2000">
                <a:solidFill>
                  <a:srgbClr val="000000"/>
                </a:solidFill>
              </a:defRPr>
            </a:pPr>
            <a:r>
              <a:t>Healthcare provider dashboard</a:t>
            </a:r>
          </a:p>
          <a:p>
            <a:pPr>
              <a:spcAft>
                <a:spcPts val="1200"/>
              </a:spcAft>
              <a:defRPr sz="2000">
                <a:solidFill>
                  <a:srgbClr val="000000"/>
                </a:solidFill>
              </a:defRPr>
            </a:pPr>
            <a:r>
              <a:t>Progressive Web App (PWA) for offline use</a:t>
            </a:r>
          </a:p>
          <a:p>
            <a:pPr>
              <a:spcAft>
                <a:spcPts val="1200"/>
              </a:spcAft>
              <a:defRPr sz="2000">
                <a:solidFill>
                  <a:srgbClr val="000000"/>
                </a:solidFill>
              </a:defRPr>
            </a:pPr>
            <a:r>
              <a:t>Multi-language support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1A237E"/>
          </a:solidFill>
        </p:spPr>
        <p:txBody>
          <a:bodyPr wrap="none" tIns="137160">
            <a:spAutoFit/>
          </a:bodyPr>
          <a:lstStyle/>
          <a:p>
            <a:pPr algn="ctr">
              <a:defRPr sz="3600" b="1">
                <a:solidFill>
                  <a:srgbClr val="FFFFFF"/>
                </a:solidFill>
              </a:defRPr>
            </a:pPr>
            <a:r>
              <a:t>Conclusion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371600"/>
            <a:ext cx="8229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000">
                <a:solidFill>
                  <a:srgbClr val="000000"/>
                </a:solidFill>
              </a:defRPr>
            </a:pPr>
            <a:r>
              <a:t>Successfully integrated Generative AI with ML</a:t>
            </a:r>
          </a:p>
          <a:p>
            <a:pPr>
              <a:spcAft>
                <a:spcPts val="1200"/>
              </a:spcAft>
              <a:defRPr sz="2000">
                <a:solidFill>
                  <a:srgbClr val="000000"/>
                </a:solidFill>
              </a:defRPr>
            </a:pPr>
            <a:r>
              <a:t>Created accessible, free health coaching platform</a:t>
            </a:r>
          </a:p>
          <a:p>
            <a:pPr>
              <a:spcAft>
                <a:spcPts val="1200"/>
              </a:spcAft>
              <a:defRPr sz="2000">
                <a:solidFill>
                  <a:srgbClr val="000000"/>
                </a:solidFill>
              </a:defRPr>
            </a:pPr>
            <a:r>
              <a:t>Achieved 94% accuracy in predictions</a:t>
            </a:r>
          </a:p>
          <a:p>
            <a:pPr>
              <a:spcAft>
                <a:spcPts val="1200"/>
              </a:spcAft>
              <a:defRPr sz="2000">
                <a:solidFill>
                  <a:srgbClr val="000000"/>
                </a:solidFill>
              </a:defRPr>
            </a:pPr>
            <a:r>
              <a:t>Privacy-first architecture with local storage</a:t>
            </a:r>
          </a:p>
          <a:p>
            <a:pPr>
              <a:spcAft>
                <a:spcPts val="1200"/>
              </a:spcAft>
              <a:defRPr sz="2000">
                <a:solidFill>
                  <a:srgbClr val="000000"/>
                </a:solidFill>
              </a:defRPr>
            </a:pPr>
            <a:r>
              <a:t>Component-based, modular design</a:t>
            </a:r>
          </a:p>
          <a:p>
            <a:pPr>
              <a:spcAft>
                <a:spcPts val="1200"/>
              </a:spcAft>
              <a:defRPr sz="2000">
                <a:solidFill>
                  <a:srgbClr val="000000"/>
                </a:solidFill>
              </a:defRPr>
            </a:pPr>
            <a:r>
              <a:t>Agile methodology enabled iterative refinement</a:t>
            </a:r>
          </a:p>
          <a:p>
            <a:pPr>
              <a:spcAft>
                <a:spcPts val="1200"/>
              </a:spcAft>
              <a:defRPr sz="2000">
                <a:solidFill>
                  <a:srgbClr val="000000"/>
                </a:solidFill>
              </a:defRPr>
            </a:pPr>
            <a:r>
              <a:t>Bridges gap between expensive coaching and generic apps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237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5400" b="1">
                <a:solidFill>
                  <a:srgbClr val="FFFFFF"/>
                </a:solidFill>
              </a:defRPr>
            </a:pPr>
            <a:r>
              <a:t>THANK YOU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3657600"/>
            <a:ext cx="82296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400">
                <a:solidFill>
                  <a:srgbClr val="FFFFFF"/>
                </a:solidFill>
              </a:defRPr>
            </a:pPr>
            <a:r>
              <a:t>Questions &amp; Answers</a:t>
            </a:r>
          </a:p>
          <a:p/>
          <a:p>
            <a:r>
              <a:t>Project Repository: github.com/SyntaxByGulshan/AI-HealthCoach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